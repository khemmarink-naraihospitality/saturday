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6B4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1188720"/>
            <a:ext cx="1280160" cy="1280160"/>
          </a:xfrm>
          <a:prstGeom prst="rect">
            <a:avLst/>
          </a:prstGeom>
          <a:solidFill>
            <a:srgbClr val="6B4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2588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Segoe UI"/>
              </a:rPr>
              <a:t>NHG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NHG Saturday.com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03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4F2FF"/>
                </a:solidFill>
                <a:latin typeface="Segoe UI"/>
              </a:rPr>
              <a:t>ระบบบริหารจัดการโปรเจกต์ภายในองค์กร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Segoe UI"/>
              </a:rPr>
              <a:t>Narai Hospitality Group  •  Business 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6B4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728"/>
                </a:solidFill>
                <a:latin typeface="Segoe UI"/>
              </a:rPr>
              <a:t>ระบบนี้คืออะไร?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Segoe UI"/>
              </a:rPr>
              <a:t>NHG Saturday.com — Project Management Platform ขององค์กร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10515600" cy="914400"/>
          </a:xfrm>
          <a:prstGeom prst="rect">
            <a:avLst/>
          </a:prstGeom>
          <a:solidFill>
            <a:srgbClr val="F4F2FF"/>
          </a:solidFill>
          <a:ln w="12700">
            <a:solidFill>
              <a:srgbClr val="6B4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73352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728"/>
                </a:solidFill>
                <a:latin typeface="Segoe UI"/>
              </a:rP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5544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B4CC3"/>
                </a:solidFill>
                <a:latin typeface="Segoe UI"/>
              </a:rPr>
              <a:t>Board &amp; 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47672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728"/>
                </a:solidFill>
                <a:latin typeface="Segoe UI"/>
              </a:rPr>
              <a:t>จัดกลุ่มงานเป็น Board และ Group ได้อย่างยืดหยุ่น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24328"/>
            <a:ext cx="10515600" cy="914400"/>
          </a:xfrm>
          <a:prstGeom prst="rect">
            <a:avLst/>
          </a:prstGeom>
          <a:solidFill>
            <a:srgbClr val="F4F2FF"/>
          </a:solidFill>
          <a:ln w="12700">
            <a:solidFill>
              <a:srgbClr val="6B4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728"/>
                </a:solidFill>
                <a:latin typeface="Segoe UI"/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6700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B4CC3"/>
                </a:solidFill>
                <a:latin typeface="Segoe UI"/>
              </a:rPr>
              <a:t>Items &amp; Sub-items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0632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728"/>
                </a:solidFill>
                <a:latin typeface="Segoe UI"/>
              </a:rPr>
              <a:t>สร้าง Item งาน และ Sub-item ย่อยได้ไม่จำกัด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739896"/>
            <a:ext cx="10515600" cy="914400"/>
          </a:xfrm>
          <a:prstGeom prst="rect">
            <a:avLst/>
          </a:prstGeom>
          <a:solidFill>
            <a:srgbClr val="F4F2FF"/>
          </a:solidFill>
          <a:ln w="12700">
            <a:solidFill>
              <a:srgbClr val="6B4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904488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728"/>
                </a:solidFill>
                <a:latin typeface="Segoe UI"/>
              </a:rPr>
              <a:t>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78561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B4CC3"/>
                </a:solidFill>
                <a:latin typeface="Segoe UI"/>
              </a:rPr>
              <a:t>Team Collaboration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17880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728"/>
                </a:solidFill>
                <a:latin typeface="Segoe UI"/>
              </a:rPr>
              <a:t>กำหนดสิทธิ์สมาชิก เชิญทีม ติดตามผู้รับผิดชอบ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855464"/>
            <a:ext cx="10515600" cy="914400"/>
          </a:xfrm>
          <a:prstGeom prst="rect">
            <a:avLst/>
          </a:prstGeom>
          <a:solidFill>
            <a:srgbClr val="F4F2FF"/>
          </a:solidFill>
          <a:ln w="12700">
            <a:solidFill>
              <a:srgbClr val="6B4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020056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728"/>
                </a:solidFill>
                <a:latin typeface="Segoe UI"/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90118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B4CC3"/>
                </a:solidFill>
                <a:latin typeface="Segoe UI"/>
              </a:rPr>
              <a:t>Multiple 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294376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728"/>
                </a:solidFill>
                <a:latin typeface="Segoe UI"/>
              </a:rPr>
              <a:t>ดูงานได้ 4 มุมมอง: Table, Timeline, Kanban, Calendar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6B4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728"/>
                </a:solidFill>
                <a:latin typeface="Segoe UI"/>
              </a:rPr>
              <a:t>4 มุมมองการทำงาน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Segoe UI"/>
              </a:rPr>
              <a:t>เปลี่ยนวิธีดูข้อมูลได้ทันทีโดยไม่กระทบข้อมูลเดิม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394960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6B4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394960" cy="502920"/>
          </a:xfrm>
          <a:prstGeom prst="rect">
            <a:avLst/>
          </a:prstGeom>
          <a:solidFill>
            <a:srgbClr val="6B4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📋  Main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728"/>
                </a:solidFill>
                <a:latin typeface="Segoe UI"/>
              </a:rPr>
              <a:t>ตารางหลัก — ดูงานทุกชิ้นพร้อมกัน
กรอง / เรียง / Group by ได้ทันที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5394960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C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5394960" cy="502920"/>
          </a:xfrm>
          <a:prstGeom prst="rect">
            <a:avLst/>
          </a:prstGeom>
          <a:solidFill>
            <a:srgbClr val="00C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463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📅  Timeline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728"/>
                </a:solidFill>
                <a:latin typeface="Segoe UI"/>
              </a:rPr>
              <a:t>แผนภูมิ Gantt — วางแผนระยะเวลา
แบบ Day / Month / Year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94760"/>
            <a:ext cx="5394960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DA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94760"/>
            <a:ext cx="5394960" cy="502920"/>
          </a:xfrm>
          <a:prstGeom prst="rect">
            <a:avLst/>
          </a:prstGeom>
          <a:solidFill>
            <a:srgbClr val="FD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840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🗂️  Kanban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728"/>
                </a:solidFill>
                <a:latin typeface="Segoe UI"/>
              </a:rPr>
              <a:t>กระดานการ์ด — ลาก-วางเปลี่ยนสถานะ
ขยาย Sub-item ได้บนการ์ด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794760"/>
            <a:ext cx="5394960" cy="2148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2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794760"/>
            <a:ext cx="5394960" cy="502920"/>
          </a:xfrm>
          <a:prstGeom prst="rect">
            <a:avLst/>
          </a:prstGeom>
          <a:solidFill>
            <a:srgbClr val="E24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8404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📆  Calendar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38912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728"/>
                </a:solidFill>
                <a:latin typeface="Segoe UI"/>
              </a:rPr>
              <a:t>มุมมองปฏิทิน — เห็น Deadline
ของทุก Item ในเดือนนั้น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6B4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728"/>
                </a:solidFill>
                <a:latin typeface="Segoe UI"/>
              </a:rPr>
              <a:t>ฟีเจอร์เด่น — ค้นหาและจัดกลุ่มข้อมูล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Segoe UI"/>
              </a:rPr>
              <a:t>เครื่องมือ Toolbar ที่ใช้ได้ทุก 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3566160" cy="2148840"/>
          </a:xfrm>
          <a:prstGeom prst="rect">
            <a:avLst/>
          </a:prstGeom>
          <a:solidFill>
            <a:srgbClr val="F4F2FF"/>
          </a:solidFill>
          <a:ln w="19050">
            <a:solidFill>
              <a:srgbClr val="6B4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4CC3"/>
                </a:solidFill>
                <a:latin typeface="Segoe UI"/>
              </a:rPr>
              <a:t>🔍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01168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728"/>
                </a:solidFill>
                <a:latin typeface="Segoe UI"/>
              </a:rPr>
              <a:t>ค้นหา Item ได้แบบ Real-time
รองรับทุก Field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417320"/>
            <a:ext cx="3566160" cy="2148840"/>
          </a:xfrm>
          <a:prstGeom prst="rect">
            <a:avLst/>
          </a:prstGeom>
          <a:solidFill>
            <a:srgbClr val="F4F2FF"/>
          </a:solidFill>
          <a:ln w="19050">
            <a:solidFill>
              <a:srgbClr val="00C8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875"/>
                </a:solidFill>
                <a:latin typeface="Segoe UI"/>
              </a:rPr>
              <a:t>🔽 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201168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728"/>
                </a:solidFill>
                <a:latin typeface="Segoe UI"/>
              </a:rPr>
              <a:t>กรองตาม Group / Status / Person
หรือ Dropdown ได้พร้อมกัน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417320"/>
            <a:ext cx="3566160" cy="2148840"/>
          </a:xfrm>
          <a:prstGeom prst="rect">
            <a:avLst/>
          </a:prstGeom>
          <a:solidFill>
            <a:srgbClr val="F4F2FF"/>
          </a:solidFill>
          <a:ln w="19050">
            <a:solidFill>
              <a:srgbClr val="FDA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2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DAB3D"/>
                </a:solidFill>
                <a:latin typeface="Segoe UI"/>
              </a:rPr>
              <a:t>↕️ Sort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2" y="201168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728"/>
                </a:solidFill>
                <a:latin typeface="Segoe UI"/>
              </a:rPr>
              <a:t>เรียง Item ตาม Column ใดก็ได้
A→Z หรือ Z→A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794760"/>
            <a:ext cx="3566160" cy="2148840"/>
          </a:xfrm>
          <a:prstGeom prst="rect">
            <a:avLst/>
          </a:prstGeom>
          <a:solidFill>
            <a:srgbClr val="F4F2FF"/>
          </a:solidFill>
          <a:ln w="19050">
            <a:solidFill>
              <a:srgbClr val="E244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2445C"/>
                </a:solidFill>
                <a:latin typeface="Segoe UI"/>
              </a:rPr>
              <a:t>⬛ Group 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438912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728"/>
                </a:solidFill>
                <a:latin typeface="Segoe UI"/>
              </a:rPr>
              <a:t>จัดกลุ่มแบบ Dynamic ตาม Status
หรือ Dropdown โดยอัตโนมัติ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3794760"/>
            <a:ext cx="3566160" cy="2148840"/>
          </a:xfrm>
          <a:prstGeom prst="rect">
            <a:avLst/>
          </a:prstGeom>
          <a:solidFill>
            <a:srgbClr val="F4F2FF"/>
          </a:solidFill>
          <a:ln w="19050">
            <a:solidFill>
              <a:srgbClr val="A25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6552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25DDC"/>
                </a:solidFill>
                <a:latin typeface="Segoe UI"/>
              </a:rPr>
              <a:t>👁️ Hide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438912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728"/>
                </a:solidFill>
                <a:latin typeface="Segoe UI"/>
              </a:rPr>
              <a:t>ซ่อน Item ที่ไม่ต้องการแสดง
ออกจาก View ชั่วคราว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3794760"/>
            <a:ext cx="3566160" cy="2148840"/>
          </a:xfrm>
          <a:prstGeom prst="rect">
            <a:avLst/>
          </a:prstGeom>
          <a:solidFill>
            <a:srgbClr val="F4F2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7032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4748B"/>
                </a:solidFill>
                <a:latin typeface="Segoe UI"/>
              </a:rPr>
              <a:t>📤 Export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2" y="4389120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728"/>
                </a:solidFill>
                <a:latin typeface="Segoe UI"/>
              </a:rPr>
              <a:t>Export เป็น Excel หรือ CSV
นำไปใช้ต่อได้ทันที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D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728"/>
                </a:solidFill>
                <a:latin typeface="Segoe UI"/>
              </a:rPr>
              <a:t>Kanban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Segoe UI"/>
              </a:rPr>
              <a:t>บริหารงานแบบ Card — ลาก-วาง เปลี่ยนสถานะได้ทันที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607040" cy="640080"/>
          </a:xfrm>
          <a:prstGeom prst="rect">
            <a:avLst/>
          </a:prstGeom>
          <a:solidFill>
            <a:srgbClr val="FFF8EE"/>
          </a:solidFill>
          <a:ln w="12700">
            <a:solidFill>
              <a:srgbClr val="FDA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27048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28"/>
                </a:solidFill>
                <a:latin typeface="Segoe UI"/>
              </a:rPr>
              <a:t>🎨  แถบสี Status บนการ์ด — รู้สถานะทันทีโดยไม่ต้องเปิด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67128"/>
            <a:ext cx="10607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76856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28"/>
                </a:solidFill>
                <a:latin typeface="Segoe UI"/>
              </a:rPr>
              <a:t>👤  แสดง Person / ผู้รับผิดชอบบนการ์ด พร้อม Avatar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16936"/>
            <a:ext cx="10607040" cy="640080"/>
          </a:xfrm>
          <a:prstGeom prst="rect">
            <a:avLst/>
          </a:prstGeom>
          <a:solidFill>
            <a:srgbClr val="FFF8EE"/>
          </a:solidFill>
          <a:ln w="12700">
            <a:solidFill>
              <a:srgbClr val="FDA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26664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28"/>
                </a:solidFill>
                <a:latin typeface="Segoe UI"/>
              </a:rPr>
              <a:t>📎  ดู Sub-items ได้โดยกด Expand ไม่ต้องออกจาก Kanban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666744"/>
            <a:ext cx="10607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76472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28"/>
                </a:solidFill>
                <a:latin typeface="Segoe UI"/>
              </a:rPr>
              <a:t>🖱️  Drag &amp; Drop การ์ดข้าม Column เพื่อเปลี่ยน Status / Group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416552"/>
            <a:ext cx="10607040" cy="640080"/>
          </a:xfrm>
          <a:prstGeom prst="rect">
            <a:avLst/>
          </a:prstGeom>
          <a:solidFill>
            <a:srgbClr val="FFF8EE"/>
          </a:solidFill>
          <a:ln w="12700">
            <a:solidFill>
              <a:srgbClr val="FDA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5262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28"/>
                </a:solidFill>
                <a:latin typeface="Segoe UI"/>
              </a:rPr>
              <a:t>🔽  Filter by Person — กรองดูเฉพาะงานของคนนั้นได้ทันที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276088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728"/>
                </a:solidFill>
                <a:latin typeface="Segoe UI"/>
              </a:rPr>
              <a:t>⬛  พื้นหลัง Column สีเทา — แยกแยะ Card กับพื้นหลังชัดเจน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C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728"/>
                </a:solidFill>
                <a:latin typeface="Segoe UI"/>
              </a:rPr>
              <a:t>Import Board จาก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Segoe UI"/>
              </a:rPr>
              <a:t>นำเข้าข้อมูลจากไฟล์ .xlsx โดยตรง — แทนที่ข้อมูลเดิมทั้งหมด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63040"/>
            <a:ext cx="640080" cy="640080"/>
          </a:xfrm>
          <a:prstGeom prst="rect">
            <a:avLst/>
          </a:prstGeom>
          <a:solidFill>
            <a:srgbClr val="00C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2704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9961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875"/>
                </a:solidFill>
                <a:latin typeface="Segoe UI"/>
              </a:rPr>
              <a:t>เปิด Board ที่ต้องการ Import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65376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728"/>
                </a:solidFill>
                <a:latin typeface="Segoe UI"/>
              </a:rPr>
              <a:t>เลือก Board ปลายทางก่อน แล้วเปิดเมนู ⋯ &gt; Import 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651760"/>
            <a:ext cx="640080" cy="640080"/>
          </a:xfrm>
          <a:prstGeom prst="rect">
            <a:avLst/>
          </a:prstGeom>
          <a:solidFill>
            <a:srgbClr val="00C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71576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8833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875"/>
                </a:solidFill>
                <a:latin typeface="Segoe UI"/>
              </a:rPr>
              <a:t>เลือกไฟล์ Excel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54096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728"/>
                </a:solidFill>
                <a:latin typeface="Segoe UI"/>
              </a:rPr>
              <a:t>รองรับ .xlsx, หลายไฟล์พร้อมกัน, หลาย Sheet ต่อไฟล์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840480"/>
            <a:ext cx="640080" cy="640080"/>
          </a:xfrm>
          <a:prstGeom prst="rect">
            <a:avLst/>
          </a:prstGeom>
          <a:solidFill>
            <a:srgbClr val="00C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90448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87705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875"/>
                </a:solidFill>
                <a:latin typeface="Segoe UI"/>
              </a:rPr>
              <a:t>Preview &amp; เลือก Sheet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242816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728"/>
                </a:solidFill>
                <a:latin typeface="Segoe UI"/>
              </a:rPr>
              <a:t>ระบบแสดง Groups / Items ที่พบ ให้เลือกก่อน Import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5029200"/>
            <a:ext cx="640080" cy="640080"/>
          </a:xfrm>
          <a:prstGeom prst="rect">
            <a:avLst/>
          </a:prstGeom>
          <a:solidFill>
            <a:srgbClr val="00C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09320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06577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875"/>
                </a:solidFill>
                <a:latin typeface="Segoe UI"/>
              </a:rPr>
              <a:t>กด Import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431536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728"/>
                </a:solidFill>
                <a:latin typeface="Segoe UI"/>
              </a:rPr>
              <a:t>ระบบลบ Group เดิมทั้งหมด แล้ววาง Group/Item จาก Excel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A25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728"/>
                </a:solidFill>
                <a:latin typeface="Segoe UI"/>
              </a:rPr>
              <a:t>การจัดการสมาชิกและสิทธิ์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Segoe UI"/>
              </a:rPr>
              <a:t>ควบคุมว่าใครทำอะไรได้บ้างในแต่ละ 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2011680" cy="685800"/>
          </a:xfrm>
          <a:prstGeom prst="rect">
            <a:avLst/>
          </a:prstGeom>
          <a:solidFill>
            <a:srgbClr val="6B4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Owner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463040"/>
            <a:ext cx="8686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627632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728"/>
                </a:solidFill>
                <a:latin typeface="Segoe UI"/>
              </a:rPr>
              <a:t>เจ้าของ Board — สิทธิ์เต็ม รวมถึงลบ Board ได้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77440"/>
            <a:ext cx="2011680" cy="685800"/>
          </a:xfrm>
          <a:prstGeom prst="rect">
            <a:avLst/>
          </a:prstGeom>
          <a:solidFill>
            <a:srgbClr val="00C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377440"/>
            <a:ext cx="8686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2542032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728"/>
                </a:solidFill>
                <a:latin typeface="Segoe UI"/>
              </a:rPr>
              <a:t>บริหารสมาชิก เพิ่ม/ลบคน กำหนดสิทธิ์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91840"/>
            <a:ext cx="2011680" cy="685800"/>
          </a:xfrm>
          <a:prstGeom prst="rect">
            <a:avLst/>
          </a:prstGeom>
          <a:solidFill>
            <a:srgbClr val="FD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832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Editor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3291840"/>
            <a:ext cx="8686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3456432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728"/>
                </a:solidFill>
                <a:latin typeface="Segoe UI"/>
              </a:rPr>
              <a:t>แก้ไข Item, เพิ่ม Group, อัปเดตค่าต่างๆ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06240"/>
            <a:ext cx="2011680" cy="685800"/>
          </a:xfrm>
          <a:prstGeom prst="rect">
            <a:avLst/>
          </a:prstGeom>
          <a:solidFill>
            <a:srgbClr val="A25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976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Member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4206240"/>
            <a:ext cx="8686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4370832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728"/>
                </a:solidFill>
                <a:latin typeface="Segoe UI"/>
              </a:rPr>
              <a:t>เพิ่ม Item และ Update ได้ ไม่สามารถลบ Group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120640"/>
            <a:ext cx="2011680" cy="6858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2120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Viewer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5120640"/>
            <a:ext cx="8686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0" y="5285232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728"/>
                </a:solidFill>
                <a:latin typeface="Segoe UI"/>
              </a:rPr>
              <a:t>ดูข้อมูลได้อย่างเดียว ไม่สามารถแก้ไขใดๆ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DA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728"/>
                </a:solidFill>
                <a:latin typeface="Segoe UI"/>
              </a:rPr>
              <a:t>Tips การใช้งานที่มีประสิทธิภาพ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Segoe UI"/>
              </a:rPr>
              <a:t>เทคนิคที่ช่วยให้ทำงานได้เร็วขึ้น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00" cy="1417320"/>
          </a:xfrm>
          <a:prstGeom prst="rect">
            <a:avLst/>
          </a:prstGeom>
          <a:solidFill>
            <a:srgbClr val="FFFBEB"/>
          </a:solidFill>
          <a:ln w="12700">
            <a:solidFill>
              <a:srgbClr val="FDA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DAB3D"/>
                </a:solidFill>
                <a:latin typeface="Segoe UI"/>
              </a:rPr>
              <a:t>💡  ใช้ Group by 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728"/>
                </a:solidFill>
                <a:latin typeface="Segoe UI"/>
              </a:rPr>
              <a:t>เปลี่ยนมุมมองตาม Status ได้ทันทีจาก Toolbar &gt; Group by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17320"/>
            <a:ext cx="5486400" cy="1417320"/>
          </a:xfrm>
          <a:prstGeom prst="rect">
            <a:avLst/>
          </a:prstGeom>
          <a:solidFill>
            <a:srgbClr val="FFFBEB"/>
          </a:solidFill>
          <a:ln w="12700">
            <a:solidFill>
              <a:srgbClr val="FDA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DAB3D"/>
                </a:solidFill>
                <a:latin typeface="Segoe UI"/>
              </a:rPr>
              <a:t>💡  Filter by Person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728"/>
                </a:solidFill>
                <a:latin typeface="Segoe UI"/>
              </a:rPr>
              <a:t>กรองดูเฉพาะงานของตัวเองหรือเพื่อนร่วมทีม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71800"/>
            <a:ext cx="5486400" cy="1417320"/>
          </a:xfrm>
          <a:prstGeom prst="rect">
            <a:avLst/>
          </a:prstGeom>
          <a:solidFill>
            <a:srgbClr val="FFFBEB"/>
          </a:solidFill>
          <a:ln w="12700">
            <a:solidFill>
              <a:srgbClr val="FDA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63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DAB3D"/>
                </a:solidFill>
                <a:latin typeface="Segoe UI"/>
              </a:rPr>
              <a:t>💡  Sub-items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204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728"/>
                </a:solidFill>
                <a:latin typeface="Segoe UI"/>
              </a:rPr>
              <a:t>ใช้ Sub-item สำหรับงานย่อยแทนการสร้าง Board ใหม่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971800"/>
            <a:ext cx="5486400" cy="1417320"/>
          </a:xfrm>
          <a:prstGeom prst="rect">
            <a:avLst/>
          </a:prstGeom>
          <a:solidFill>
            <a:srgbClr val="FFFBEB"/>
          </a:solidFill>
          <a:ln w="12700">
            <a:solidFill>
              <a:srgbClr val="FDA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063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DAB3D"/>
                </a:solidFill>
                <a:latin typeface="Segoe UI"/>
              </a:rPr>
              <a:t>💡  Timeline 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5204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728"/>
                </a:solidFill>
                <a:latin typeface="Segoe UI"/>
              </a:rPr>
              <a:t>ใช้ Month View สำหรับวางแผนรายเดือน, Day สำหรับงาน Sprint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26280"/>
            <a:ext cx="5486400" cy="1417320"/>
          </a:xfrm>
          <a:prstGeom prst="rect">
            <a:avLst/>
          </a:prstGeom>
          <a:solidFill>
            <a:srgbClr val="FFFBEB"/>
          </a:solidFill>
          <a:ln w="12700">
            <a:solidFill>
              <a:srgbClr val="FDA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617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DAB3D"/>
                </a:solidFill>
                <a:latin typeface="Segoe UI"/>
              </a:rPr>
              <a:t>💡  Export ก่อน Import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749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728"/>
                </a:solidFill>
                <a:latin typeface="Segoe UI"/>
              </a:rPr>
              <a:t>Export Board ปัจจุบันก่อนเสมอ เพื่อ Backup ข้อมูล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526280"/>
            <a:ext cx="5486400" cy="1417320"/>
          </a:xfrm>
          <a:prstGeom prst="rect">
            <a:avLst/>
          </a:prstGeom>
          <a:solidFill>
            <a:srgbClr val="FFFBEB"/>
          </a:solidFill>
          <a:ln w="12700">
            <a:solidFill>
              <a:srgbClr val="FDA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4617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DAB3D"/>
                </a:solidFill>
                <a:latin typeface="Segoe UI"/>
              </a:rPr>
              <a:t>💡  Updates / Comments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0749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728"/>
                </a:solidFill>
                <a:latin typeface="Segoe UI"/>
              </a:rPr>
              <a:t>บันทึกความคืบหน้าไว้ใน Updates ของแต่ละ Item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6B4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3017520"/>
            <a:ext cx="11777472" cy="54864"/>
          </a:xfrm>
          <a:prstGeom prst="rect">
            <a:avLst/>
          </a:prstGeom>
          <a:solidFill>
            <a:srgbClr val="6B4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Segoe UI"/>
              </a:rPr>
              <a:t>ขอบคุณที่รับฟัง 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4F2FF"/>
                </a:solidFill>
                <a:latin typeface="Segoe UI"/>
              </a:rPr>
              <a:t>หากมีคำถามหรือต้องการสาธิตเพิ่มเติม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Segoe UI"/>
              </a:rPr>
              <a:t>ติดต่อ: Business Tech Team  |  NHG Saturday.com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